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Raleway" pitchFamily="2" charset="0"/>
      <p:regular r:id="rId9"/>
    </p:embeddedFont>
    <p:embeddedFont>
      <p:font typeface="Raleway Bold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1435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77911" y="3936365"/>
            <a:ext cx="11732179" cy="3144583"/>
            <a:chOff x="0" y="0"/>
            <a:chExt cx="3089956" cy="8282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9957" cy="828203"/>
            </a:xfrm>
            <a:custGeom>
              <a:avLst/>
              <a:gdLst/>
              <a:ahLst/>
              <a:cxnLst/>
              <a:rect l="l" t="t" r="r" b="b"/>
              <a:pathLst>
                <a:path w="3089957" h="828203">
                  <a:moveTo>
                    <a:pt x="0" y="0"/>
                  </a:moveTo>
                  <a:lnTo>
                    <a:pt x="3089957" y="0"/>
                  </a:lnTo>
                  <a:lnTo>
                    <a:pt x="3089957" y="828203"/>
                  </a:lnTo>
                  <a:lnTo>
                    <a:pt x="0" y="8282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00025"/>
              <a:ext cx="3089956" cy="1028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9"/>
                </a:lnSpc>
              </a:pPr>
              <a:r>
                <a:rPr lang="en-US" sz="9999" b="1" dirty="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FINDATA</a:t>
              </a:r>
            </a:p>
            <a:p>
              <a:pPr algn="ctr">
                <a:lnSpc>
                  <a:spcPts val="9100"/>
                </a:lnSpc>
              </a:pPr>
              <a:r>
                <a:rPr lang="en-US" sz="6500" b="1" dirty="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ANALYTICS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13366" y="7686361"/>
            <a:ext cx="14661268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Consultoria especializada em soluções de dados para o setor financeiro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86864" y="727868"/>
            <a:ext cx="4514272" cy="51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2"/>
              </a:lnSpc>
              <a:spcBef>
                <a:spcPct val="0"/>
              </a:spcBef>
            </a:pPr>
            <a:r>
              <a:rPr lang="en-US" sz="293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Projeto Aplicado II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86864" y="9544608"/>
            <a:ext cx="451427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São Paulo- 2025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165904" cy="10287000"/>
            <a:chOff x="0" y="0"/>
            <a:chExt cx="2424022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24022" cy="3479800"/>
            </a:xfrm>
            <a:custGeom>
              <a:avLst/>
              <a:gdLst/>
              <a:ahLst/>
              <a:cxnLst/>
              <a:rect l="l" t="t" r="r" b="b"/>
              <a:pathLst>
                <a:path w="2424022" h="3479800">
                  <a:moveTo>
                    <a:pt x="0" y="0"/>
                  </a:moveTo>
                  <a:lnTo>
                    <a:pt x="2424022" y="0"/>
                  </a:lnTo>
                  <a:lnTo>
                    <a:pt x="2424022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AutoShape 4"/>
          <p:cNvSpPr/>
          <p:nvPr/>
        </p:nvSpPr>
        <p:spPr>
          <a:xfrm>
            <a:off x="7582163" y="6230935"/>
            <a:ext cx="414073" cy="0"/>
          </a:xfrm>
          <a:prstGeom prst="line">
            <a:avLst/>
          </a:prstGeom>
          <a:ln w="762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8295071" y="1810602"/>
            <a:ext cx="8899913" cy="3454571"/>
          </a:xfrm>
          <a:custGeom>
            <a:avLst/>
            <a:gdLst/>
            <a:ahLst/>
            <a:cxnLst/>
            <a:rect l="l" t="t" r="r" b="b"/>
            <a:pathLst>
              <a:path w="8899913" h="3454571">
                <a:moveTo>
                  <a:pt x="0" y="0"/>
                </a:moveTo>
                <a:lnTo>
                  <a:pt x="8899913" y="0"/>
                </a:lnTo>
                <a:lnTo>
                  <a:pt x="8899913" y="3454571"/>
                </a:lnTo>
                <a:lnTo>
                  <a:pt x="0" y="3454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162850" y="1310328"/>
            <a:ext cx="572401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2850" y="2250246"/>
            <a:ext cx="5724014" cy="41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seto</a:t>
            </a:r>
            <a:r>
              <a:rPr lang="en-US" sz="2378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 financeiro enfrenta desafios crescentes para lidar com grandes volumes de dados, integrar informações provenientes de múltiplas fontes e transformar esses dados em decisões estratégicas.</a:t>
            </a:r>
          </a:p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r>
              <a:rPr lang="en-US" sz="2378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 falta de processos analíticos estruturados leva à perda de competitividade e baixa eficiência operacional.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70036" y="6344208"/>
            <a:ext cx="8067973" cy="359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endParaRPr/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Organizações financeiras precisam de soluções capazes de: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Automatizar processos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Integrar plataformas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Desenvolver análises inteligentes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Gerar insights confiáveis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Apoiar decisões estratégicas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 FinData Analytics nasce para atender essa demanda.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57298" y="5859460"/>
            <a:ext cx="572401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 Oportunidade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06011" y="1673198"/>
            <a:ext cx="6938179" cy="6940603"/>
            <a:chOff x="0" y="0"/>
            <a:chExt cx="9250905" cy="925413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6699" r="16699"/>
            <a:stretch>
              <a:fillRect/>
            </a:stretch>
          </p:blipFill>
          <p:spPr>
            <a:xfrm>
              <a:off x="0" y="0"/>
              <a:ext cx="9250905" cy="9254138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709485" y="1811669"/>
            <a:ext cx="7549815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 </a:t>
            </a:r>
            <a:r>
              <a:rPr lang="en-US" sz="4400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Proposta</a:t>
            </a:r>
            <a:r>
              <a:rPr lang="en-US" sz="4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da </a:t>
            </a:r>
            <a:r>
              <a:rPr lang="en-US" sz="4400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FinData</a:t>
            </a:r>
            <a:r>
              <a:rPr lang="en-US" sz="4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Analytics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76478" y="3697619"/>
            <a:ext cx="6236127" cy="376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Somos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uma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consultoria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focada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em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tecnologia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análise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dados,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especializada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no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desenvolvimento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de:</a:t>
            </a:r>
          </a:p>
          <a:p>
            <a:pPr algn="l">
              <a:lnSpc>
                <a:spcPts val="3330"/>
              </a:lnSpc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Dashboards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inteligentes</a:t>
            </a: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Modelos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analíticos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estatísticos</a:t>
            </a: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Sistemas de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integração</a:t>
            </a: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Soluções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sob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medida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para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clientes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do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setor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78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financeiro</a:t>
            </a: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05835" cy="10287000"/>
            <a:chOff x="0" y="0"/>
            <a:chExt cx="16607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0796" cy="2709333"/>
            </a:xfrm>
            <a:custGeom>
              <a:avLst/>
              <a:gdLst/>
              <a:ahLst/>
              <a:cxnLst/>
              <a:rect l="l" t="t" r="r" b="b"/>
              <a:pathLst>
                <a:path w="1660796" h="2709333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49207" y="3956356"/>
            <a:ext cx="4913256" cy="2374288"/>
            <a:chOff x="0" y="0"/>
            <a:chExt cx="1294026" cy="6253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4026" cy="625327"/>
            </a:xfrm>
            <a:custGeom>
              <a:avLst/>
              <a:gdLst/>
              <a:ahLst/>
              <a:cxnLst/>
              <a:rect l="l" t="t" r="r" b="b"/>
              <a:pathLst>
                <a:path w="1294026" h="625327">
                  <a:moveTo>
                    <a:pt x="0" y="0"/>
                  </a:moveTo>
                  <a:lnTo>
                    <a:pt x="1294026" y="0"/>
                  </a:lnTo>
                  <a:lnTo>
                    <a:pt x="1294026" y="625327"/>
                  </a:lnTo>
                  <a:lnTo>
                    <a:pt x="0" y="6253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294026" cy="634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5600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Sobre a Empresa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0" y="1399756"/>
            <a:ext cx="7719179" cy="278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720"/>
              </a:lnSpc>
              <a:buAutoNum type="arabicPeriod"/>
            </a:pPr>
            <a:r>
              <a:rPr lang="en-US" sz="2400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Missão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transformar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dados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financeiros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em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conhecimento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estratégico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marL="518160" lvl="1" indent="-259080" algn="l">
              <a:lnSpc>
                <a:spcPts val="3720"/>
              </a:lnSpc>
              <a:buAutoNum type="arabicPeriod"/>
            </a:pPr>
            <a:r>
              <a:rPr lang="en-US" sz="2400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Visão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ser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referência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nacional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em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análise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dados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financeiros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marL="518160" lvl="1" indent="-259080" algn="l">
              <a:lnSpc>
                <a:spcPts val="3720"/>
              </a:lnSpc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Valores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ética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precisão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técnica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confiabilidade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inovação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60376" y="5086350"/>
            <a:ext cx="6558111" cy="359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Soluções</a:t>
            </a:r>
            <a:r>
              <a:rPr lang="en-US" sz="23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300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Oferecidas</a:t>
            </a:r>
            <a:endParaRPr lang="en-US" sz="2300" b="1" dirty="0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1.Coleta,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tratamento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armazenamento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dados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2.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Preparação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bases para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análises</a:t>
            </a:r>
            <a:endParaRPr lang="en-US" sz="23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3.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Automação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processos</a:t>
            </a:r>
            <a:endParaRPr lang="en-US" sz="23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4.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Desenvolvimento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indicadores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métricas</a:t>
            </a:r>
            <a:endParaRPr lang="en-US" sz="23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5.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Modelos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preditivos</a:t>
            </a:r>
            <a:endParaRPr lang="en-US" sz="23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6. Dashboards e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relatórios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performance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7.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Suporte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consultivo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técnico</a:t>
            </a:r>
            <a:r>
              <a:rPr lang="en-US" sz="23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contínuo</a:t>
            </a:r>
            <a:endParaRPr lang="en-US" sz="23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43173"/>
            <a:ext cx="18288000" cy="6000653"/>
            <a:chOff x="0" y="0"/>
            <a:chExt cx="4816593" cy="1580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80419"/>
            </a:xfrm>
            <a:custGeom>
              <a:avLst/>
              <a:gdLst/>
              <a:ahLst/>
              <a:cxnLst/>
              <a:rect l="l" t="t" r="r" b="b"/>
              <a:pathLst>
                <a:path w="4816592" h="1580419">
                  <a:moveTo>
                    <a:pt x="0" y="0"/>
                  </a:moveTo>
                  <a:lnTo>
                    <a:pt x="4816592" y="0"/>
                  </a:lnTo>
                  <a:lnTo>
                    <a:pt x="4816592" y="1580419"/>
                  </a:lnTo>
                  <a:lnTo>
                    <a:pt x="0" y="1580419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637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54259" y="3274551"/>
            <a:ext cx="9579481" cy="2393655"/>
            <a:chOff x="0" y="0"/>
            <a:chExt cx="2522991" cy="6304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2991" cy="630428"/>
            </a:xfrm>
            <a:custGeom>
              <a:avLst/>
              <a:gdLst/>
              <a:ahLst/>
              <a:cxnLst/>
              <a:rect l="l" t="t" r="r" b="b"/>
              <a:pathLst>
                <a:path w="2522991" h="630428">
                  <a:moveTo>
                    <a:pt x="0" y="0"/>
                  </a:moveTo>
                  <a:lnTo>
                    <a:pt x="2522991" y="0"/>
                  </a:lnTo>
                  <a:lnTo>
                    <a:pt x="2522991" y="630428"/>
                  </a:lnTo>
                  <a:lnTo>
                    <a:pt x="0" y="630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522991" cy="639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2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Foco At</a:t>
              </a:r>
              <a:r>
                <a:rPr lang="en-US" sz="6000" b="1" u="non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ual do Projeto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522042" y="5883728"/>
            <a:ext cx="7243915" cy="19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Este trabalho apresenta a concepção teórica de um projeto aplicado ao setor financeiro, desenvolvido no contexto do curso de Ciência de Dados.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 objetivo é estruturar uma solução analítica sólida, clara e tecnicamente viável.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765442" cy="10287000"/>
            <a:chOff x="0" y="0"/>
            <a:chExt cx="11687255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0880" b="10880"/>
            <a:stretch>
              <a:fillRect/>
            </a:stretch>
          </p:blipFill>
          <p:spPr>
            <a:xfrm>
              <a:off x="0" y="0"/>
              <a:ext cx="11687255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144000" y="2148430"/>
            <a:ext cx="6222874" cy="247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solução foi construída com base em conceitos de: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Business Intelligence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Engenharia de dados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Modelagem de dados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Técnicas analíticas e estatísticas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Boas práticas de mercado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Referências incluídas ao final do relatório técnico.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1406776"/>
            <a:ext cx="3262814" cy="798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1"/>
              </a:lnSpc>
              <a:spcBef>
                <a:spcPct val="0"/>
              </a:spcBef>
            </a:pPr>
            <a:r>
              <a:rPr lang="en-US" sz="2301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Fundamentos e Referências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6188538"/>
            <a:ext cx="3262814" cy="39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1"/>
              </a:lnSpc>
              <a:spcBef>
                <a:spcPct val="0"/>
              </a:spcBef>
            </a:pPr>
            <a:r>
              <a:rPr lang="en-US" sz="2301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 Produto Entregue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00735"/>
            <a:ext cx="451427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July, 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6621991"/>
            <a:ext cx="9360049" cy="279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Este projeto consolida: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Relatório técnico completo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Storytelling visual para apresentação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Repositório no GitHub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Vídeo demonstrativo no YouTube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Todos alinhados a uma única proposta: demonstrar a aplicação de um projeto real de dados no setor financeiro.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5734" y="1028700"/>
            <a:ext cx="8138750" cy="8229600"/>
          </a:xfrm>
          <a:custGeom>
            <a:avLst/>
            <a:gdLst/>
            <a:ahLst/>
            <a:cxnLst/>
            <a:rect l="l" t="t" r="r" b="b"/>
            <a:pathLst>
              <a:path w="8138750" h="8229600">
                <a:moveTo>
                  <a:pt x="0" y="0"/>
                </a:moveTo>
                <a:lnTo>
                  <a:pt x="8138750" y="0"/>
                </a:lnTo>
                <a:lnTo>
                  <a:pt x="81387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94" r="-372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9485497" y="2742451"/>
            <a:ext cx="705175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14378" y="3929729"/>
            <a:ext cx="6222874" cy="317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FinData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Analytics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demonstra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que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aplicação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estruturada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ciência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dados no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setor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financeiro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permite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Aumento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eficiência</a:t>
            </a:r>
            <a:endParaRPr lang="en-US" sz="20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Melhora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tomada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decisão</a:t>
            </a:r>
            <a:endParaRPr lang="en-US" sz="20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Redução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erros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operacionais</a:t>
            </a:r>
            <a:endParaRPr lang="en-US" sz="20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Maior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capacidade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analítica</a:t>
            </a:r>
            <a:endParaRPr lang="en-US" sz="20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just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Este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projeto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representa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 base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conceitual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para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implementação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futura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soluções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reais.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440</Words>
  <Application>Microsoft Office PowerPoint</Application>
  <PresentationFormat>Personalizar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Calibri</vt:lpstr>
      <vt:lpstr>Raleway</vt:lpstr>
      <vt:lpstr>Arial</vt:lpstr>
      <vt:lpstr>Raleway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Turquois White Minimalist Modern Presentation</dc:title>
  <cp:lastModifiedBy>Alberto Nagem</cp:lastModifiedBy>
  <cp:revision>2</cp:revision>
  <dcterms:created xsi:type="dcterms:W3CDTF">2006-08-16T00:00:00Z</dcterms:created>
  <dcterms:modified xsi:type="dcterms:W3CDTF">2025-11-22T02:56:48Z</dcterms:modified>
  <dc:identifier>DAG5K3t61os</dc:identifier>
</cp:coreProperties>
</file>